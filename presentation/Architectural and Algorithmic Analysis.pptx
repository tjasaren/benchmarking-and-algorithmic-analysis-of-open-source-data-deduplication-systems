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D93888-E404-49B0-9307-86BD6E8A61ED}">
  <a:tblStyle styleId="{65D93888-E404-49B0-9307-86BD6E8A61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c732f5f0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c732f5f0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c732f5f0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c732f5f0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c732f5f0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c732f5f0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c732f5f0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c732f5f0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6600" y="51100"/>
            <a:ext cx="447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800">
                <a:solidFill>
                  <a:srgbClr val="0000FF"/>
                </a:solidFill>
              </a:rPr>
              <a:t>Comparative Algorithmic Matrix</a:t>
            </a:r>
            <a:endParaRPr b="1" sz="1800">
              <a:solidFill>
                <a:srgbClr val="0000FF"/>
              </a:solidFill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952500" y="66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{65D93888-E404-49B0-9307-86BD6E8A61ED}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1100"/>
                        <a:t>Restic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1100"/>
                        <a:t>BorgBackup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1100"/>
                        <a:t>Kopia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1100"/>
                        <a:t>VDO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1100"/>
                        <a:t>OpenZFS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800"/>
                        <a:t>Chunking method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Content-defined chunking (AE, UltraCDC, TTC)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Content-defined (Rabin, FastCDC, AE)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Variable-size CDC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Fixed blocks + BSW / TTTD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Fixed block-level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800"/>
                        <a:t>Hashing function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SHA3-512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Cryptographic fingerprinting (e.g., SHA variants)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SHA-256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MD5 / SHA-1 / SHA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Cryptographic checksums (e.g., SHA-256)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800"/>
                        <a:t>Index type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Partitioned hash index + EHID/HID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Local hash index + Bloom filters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Partitioned indexes + Bloom filters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Central index + Bloom filters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DDT (Deduplication Table)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800"/>
                        <a:t>Index location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RAM + disk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Disk with RAM cache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RAM + disk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RAM + SSD/HDD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Primarily RAM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800"/>
                        <a:t>Snapshot design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Object-based immutable snapshots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Archive-based snapshots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Versioned metadata snapshots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Not native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Native ZFS snapshots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800"/>
                        <a:t>Compression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Optional, after dedup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Optional, after dedup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Automatic, after dedup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Inline compression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Inline compression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800"/>
                        <a:t>Encryption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RSA + SHA3-512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AES / convergent cipher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AEAD encryption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AES-256 + convergent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ZFS native encryption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800"/>
                        <a:t>Dedup granularity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Chunk-level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Chunk-level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Chunk-level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Block-level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Block-level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sr" sz="800"/>
                        <a:t>Metadata model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Content-indexed objects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Repository + segment metadata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Container-based metadata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Index servers + Merkle trees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/>
                        <a:t>DDT + transaction groups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56" name="Google Shape;56;p13"/>
          <p:cNvCxnSpPr/>
          <p:nvPr/>
        </p:nvCxnSpPr>
        <p:spPr>
          <a:xfrm>
            <a:off x="23300" y="512800"/>
            <a:ext cx="421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99275"/>
            <a:ext cx="8520600" cy="4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r" sz="1300">
                <a:solidFill>
                  <a:schemeClr val="dk1"/>
                </a:solidFill>
              </a:rPr>
              <a:t> User-space vs Kernel-space Deduplication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sr" sz="1100">
                <a:solidFill>
                  <a:schemeClr val="dk1"/>
                </a:solidFill>
              </a:rPr>
              <a:t>User-space (Restic, Borg, Kopia): higher flexibility and portability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sr" sz="1100">
                <a:solidFill>
                  <a:schemeClr val="dk1"/>
                </a:solidFill>
              </a:rPr>
              <a:t>Kernel-space (VDO, OpenZFS): transparent operation, higher system impact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r" sz="1300">
                <a:solidFill>
                  <a:schemeClr val="dk1"/>
                </a:solidFill>
              </a:rPr>
              <a:t>Block-level vs File-level Deduplication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sr" sz="1100">
                <a:solidFill>
                  <a:schemeClr val="dk1"/>
                </a:solidFill>
              </a:rPr>
              <a:t>Block-level (VDO, OpenZFS): operates below the filesystem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sr" sz="1100">
                <a:solidFill>
                  <a:schemeClr val="dk1"/>
                </a:solidFill>
              </a:rPr>
              <a:t>File-level / chunk-level (Restic, Borg, Kopia): optimized for backups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r" sz="1300">
                <a:solidFill>
                  <a:schemeClr val="dk1"/>
                </a:solidFill>
              </a:rPr>
              <a:t>Metadata Scalability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sr" sz="1100">
                <a:solidFill>
                  <a:schemeClr val="dk1"/>
                </a:solidFill>
              </a:rPr>
              <a:t>OpenZFS: large metadata structures require significant RAM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sr" sz="1100">
                <a:solidFill>
                  <a:schemeClr val="dk1"/>
                </a:solidFill>
              </a:rPr>
              <a:t>User-space tools: partitioned indexes improve scalability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96600" y="51100"/>
            <a:ext cx="447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800">
                <a:solidFill>
                  <a:srgbClr val="0000FF"/>
                </a:solidFill>
              </a:rPr>
              <a:t>Key Architectural Differences</a:t>
            </a:r>
            <a:endParaRPr b="1"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FF"/>
              </a:solidFill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23300" y="512800"/>
            <a:ext cx="421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699275"/>
            <a:ext cx="8520600" cy="4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r" sz="1300">
                <a:solidFill>
                  <a:schemeClr val="dk1"/>
                </a:solidFill>
              </a:rPr>
              <a:t>Index Memory Footprint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sr" sz="1100">
                <a:solidFill>
                  <a:schemeClr val="dk1"/>
                </a:solidFill>
              </a:rPr>
              <a:t>OpenZFS: DDT must fit in memory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sr" sz="1100">
                <a:solidFill>
                  <a:schemeClr val="dk1"/>
                </a:solidFill>
              </a:rPr>
              <a:t>Other tools: memory reduction via indexing optimizations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r" sz="1300">
                <a:solidFill>
                  <a:schemeClr val="dk1"/>
                </a:solidFill>
              </a:rPr>
              <a:t>Encryption Placement in Pipeline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sr" sz="1100">
                <a:solidFill>
                  <a:schemeClr val="dk1"/>
                </a:solidFill>
              </a:rPr>
              <a:t>Correct order: Deduplication → Compression → Encryption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sr" sz="1100">
                <a:solidFill>
                  <a:schemeClr val="dk1"/>
                </a:solidFill>
              </a:rPr>
              <a:t>Encrypting before deduplication breaks duplicate detection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96600" y="51100"/>
            <a:ext cx="447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800">
                <a:solidFill>
                  <a:srgbClr val="0000FF"/>
                </a:solidFill>
              </a:rPr>
              <a:t>Key Architectural Differences</a:t>
            </a:r>
            <a:endParaRPr b="1" sz="1800">
              <a:solidFill>
                <a:srgbClr val="0000FF"/>
              </a:solidFill>
            </a:endParaRPr>
          </a:p>
        </p:txBody>
      </p:sp>
      <p:cxnSp>
        <p:nvCxnSpPr>
          <p:cNvPr id="70" name="Google Shape;70;p15"/>
          <p:cNvCxnSpPr/>
          <p:nvPr/>
        </p:nvCxnSpPr>
        <p:spPr>
          <a:xfrm>
            <a:off x="23300" y="512800"/>
            <a:ext cx="421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699275"/>
            <a:ext cx="8520600" cy="4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r" sz="1300">
                <a:solidFill>
                  <a:schemeClr val="dk1"/>
                </a:solidFill>
              </a:rPr>
              <a:t>Impact on Deduplication Ratio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sr" sz="1100">
                <a:solidFill>
                  <a:schemeClr val="dk1"/>
                </a:solidFill>
              </a:rPr>
              <a:t>CDC algorithms provide higher deduplication efficiency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sr" sz="1100">
                <a:solidFill>
                  <a:schemeClr val="dk1"/>
                </a:solidFill>
              </a:rPr>
              <a:t>Fixed-size blocks detect fewer duplicates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r" sz="1300">
                <a:solidFill>
                  <a:schemeClr val="dk1"/>
                </a:solidFill>
              </a:rPr>
              <a:t>Impact on CPU Load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sr" sz="1100">
                <a:solidFill>
                  <a:schemeClr val="dk1"/>
                </a:solidFill>
              </a:rPr>
              <a:t>Kernel-level deduplication increases CPU overhead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sr" sz="1100">
                <a:solidFill>
                  <a:schemeClr val="dk1"/>
                </a:solidFill>
              </a:rPr>
              <a:t>User-space tools allow better resource control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96600" y="51100"/>
            <a:ext cx="447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800">
                <a:solidFill>
                  <a:srgbClr val="0000FF"/>
                </a:solidFill>
              </a:rPr>
              <a:t>Implications for Performance</a:t>
            </a:r>
            <a:endParaRPr b="1" sz="1800">
              <a:solidFill>
                <a:srgbClr val="0000FF"/>
              </a:solidFill>
            </a:endParaRPr>
          </a:p>
        </p:txBody>
      </p:sp>
      <p:cxnSp>
        <p:nvCxnSpPr>
          <p:cNvPr id="77" name="Google Shape;77;p16"/>
          <p:cNvCxnSpPr/>
          <p:nvPr/>
        </p:nvCxnSpPr>
        <p:spPr>
          <a:xfrm>
            <a:off x="23300" y="512800"/>
            <a:ext cx="421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699275"/>
            <a:ext cx="8520600" cy="4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r" sz="1300">
                <a:solidFill>
                  <a:schemeClr val="dk1"/>
                </a:solidFill>
              </a:rPr>
              <a:t>Impact on memory usage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sr" sz="1100">
                <a:solidFill>
                  <a:schemeClr val="dk1"/>
                </a:solidFill>
              </a:rPr>
              <a:t>ZFS requires large RAM for the DDT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sr" sz="1100">
                <a:solidFill>
                  <a:schemeClr val="dk1"/>
                </a:solidFill>
              </a:rPr>
              <a:t>Other systems reduce memory footprint using caching and partitioning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r" sz="1300">
                <a:solidFill>
                  <a:schemeClr val="dk1"/>
                </a:solidFill>
              </a:rPr>
              <a:t>Impact on storage efficiency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sr" sz="1100">
                <a:solidFill>
                  <a:schemeClr val="dk1"/>
                </a:solidFill>
              </a:rPr>
              <a:t>Deduplication + compression maximize space savings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sr" sz="1100">
                <a:solidFill>
                  <a:schemeClr val="dk1"/>
                </a:solidFill>
              </a:rPr>
              <a:t>Incorrect operation order reduces efficiency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96600" y="51100"/>
            <a:ext cx="447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800">
                <a:solidFill>
                  <a:srgbClr val="0000FF"/>
                </a:solidFill>
              </a:rPr>
              <a:t>Implications for Performance</a:t>
            </a:r>
            <a:endParaRPr b="1" sz="1800">
              <a:solidFill>
                <a:srgbClr val="0000FF"/>
              </a:solidFill>
            </a:endParaRPr>
          </a:p>
        </p:txBody>
      </p:sp>
      <p:cxnSp>
        <p:nvCxnSpPr>
          <p:cNvPr id="84" name="Google Shape;84;p17"/>
          <p:cNvCxnSpPr/>
          <p:nvPr/>
        </p:nvCxnSpPr>
        <p:spPr>
          <a:xfrm>
            <a:off x="23300" y="512800"/>
            <a:ext cx="421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