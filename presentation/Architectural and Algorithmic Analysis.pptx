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9" r:id="rId7"/>
    <p:sldId id="267" r:id="rId8"/>
    <p:sldId id="272" r:id="rId9"/>
    <p:sldId id="270" r:id="rId10"/>
    <p:sldId id="271" r:id="rId11"/>
    <p:sldId id="273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5D93888-E404-49B0-9307-86BD6E8A61ED}">
  <a:tblStyle styleId="{65D93888-E404-49B0-9307-86BD6E8A61ED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6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276425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4842999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700331-B9FA-1F1D-B923-207341F92713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E710D4-BB11-8F55-2E48-EA2EDE0F7950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39B9C2-68A7-53B9-25EA-0CA8518BB1D8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A79E61-4447-9349-CA6D-2FBCA80D2E46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FCFF79-045E-2ADA-10FC-552ABE6A60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37753" name="Google Shape;51;p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748407" name="Google Shape;52;p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61" name="Google Shape;58;g3ac732f5f08_0_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9805728" name="Google Shape;59;g3ac732f5f08_0_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430359" name="Google Shape;65;g3ac732f5f08_0_2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600199" name="Google Shape;66;g3ac732f5f08_0_2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80524" name="Google Shape;72;g3ac732f5f08_0_3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5723738" name="Google Shape;73;g3ac732f5f08_0_3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745399" name="Google Shape;79;g3ac732f5f08_0_41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4222984" name="Google Shape;80;g3ac732f5f08_0_4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65CEC4-7EC8-524E-BE55-9274D1C43E19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8501156" name="Google Shape;10;p2"/>
          <p:cNvSpPr txBox="1">
            <a:spLocks noGrp="1"/>
          </p:cNvSpPr>
          <p:nvPr>
            <p:ph type="ctrTitle"/>
          </p:nvPr>
        </p:nvSpPr>
        <p:spPr bwMode="auto"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515148904" name="Google Shape;11;p2"/>
          <p:cNvSpPr txBox="1">
            <a:spLocks noGrp="1"/>
          </p:cNvSpPr>
          <p:nvPr>
            <p:ph type="subTitle" idx="1"/>
          </p:nvPr>
        </p:nvSpPr>
        <p:spPr bwMode="auto"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582721725" name="Google Shape;12;p2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and body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04136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7292554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1527911" name="Google Shape;19;p4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and two columns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233686" name="Google Shape;21;p5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24522722" name="Google Shape;22;p5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880186545" name="Google Shape;23;p5"/>
          <p:cNvSpPr txBox="1">
            <a:spLocks noGrp="1"/>
          </p:cNvSpPr>
          <p:nvPr>
            <p:ph type="body" idx="2"/>
          </p:nvPr>
        </p:nvSpPr>
        <p:spPr bwMode="auto">
          <a:xfrm>
            <a:off x="4832399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191513144" name="Google Shape;24;p5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126395" name="Google Shape;26;p6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58963561" name="Google Shape;27;p6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One column text" userDrawn="1">
  <p:cSld name="ONE_COLUM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888824" name="Google Shape;29;p7"/>
          <p:cNvSpPr txBox="1">
            <a:spLocks noGrp="1"/>
          </p:cNvSpPr>
          <p:nvPr>
            <p:ph type="title"/>
          </p:nvPr>
        </p:nvSpPr>
        <p:spPr bwMode="auto"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pPr>
              <a:defRPr/>
            </a:pPr>
            <a:endParaRPr/>
          </a:p>
        </p:txBody>
      </p:sp>
      <p:sp>
        <p:nvSpPr>
          <p:cNvPr id="1876592216" name="Google Shape;30;p7"/>
          <p:cNvSpPr txBox="1">
            <a:spLocks noGrp="1"/>
          </p:cNvSpPr>
          <p:nvPr>
            <p:ph type="body" idx="1"/>
          </p:nvPr>
        </p:nvSpPr>
        <p:spPr bwMode="auto"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605771174" name="Google Shape;31;p7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Main point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888844" name="Google Shape;33;p8"/>
          <p:cNvSpPr txBox="1">
            <a:spLocks noGrp="1"/>
          </p:cNvSpPr>
          <p:nvPr>
            <p:ph type="title"/>
          </p:nvPr>
        </p:nvSpPr>
        <p:spPr bwMode="auto"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>
              <a:defRPr/>
            </a:pPr>
            <a:endParaRPr/>
          </a:p>
        </p:txBody>
      </p:sp>
      <p:sp>
        <p:nvSpPr>
          <p:cNvPr id="1116012633" name="Google Shape;34;p8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676113" name="Google Shape;36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1763919" name="Google Shape;37;p9"/>
          <p:cNvSpPr txBox="1">
            <a:spLocks noGrp="1"/>
          </p:cNvSpPr>
          <p:nvPr>
            <p:ph type="title"/>
          </p:nvPr>
        </p:nvSpPr>
        <p:spPr bwMode="auto">
          <a:xfrm>
            <a:off x="265500" y="12331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81080026" name="Google Shape;38;p9"/>
          <p:cNvSpPr txBox="1">
            <a:spLocks noGrp="1"/>
          </p:cNvSpPr>
          <p:nvPr>
            <p:ph type="subTitle" idx="1"/>
          </p:nvPr>
        </p:nvSpPr>
        <p:spPr bwMode="auto">
          <a:xfrm>
            <a:off x="265500" y="2803075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28534453" name="Google Shape;39;p9"/>
          <p:cNvSpPr txBox="1">
            <a:spLocks noGrp="1"/>
          </p:cNvSpPr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42405029" name="Google Shape;40;p9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Caption" userDrawn="1">
  <p:cSld name="CAPTION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15795" name="Google Shape;42;p10"/>
          <p:cNvSpPr txBox="1">
            <a:spLocks noGrp="1"/>
          </p:cNvSpPr>
          <p:nvPr>
            <p:ph type="body" idx="1"/>
          </p:nvPr>
        </p:nvSpPr>
        <p:spPr bwMode="auto"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341708449" name="Google Shape;43;p10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ig number" userDrawn="1">
  <p:cSld name="BIG_NUMB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0065509" name="Google Shape;45;p11"/>
          <p:cNvSpPr txBox="1">
            <a:spLocks noGrp="1"/>
          </p:cNvSpPr>
          <p:nvPr>
            <p:ph type="title" hasCustomPrompt="1"/>
          </p:nvPr>
        </p:nvSpPr>
        <p:spPr bwMode="auto"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pPr>
              <a:defRPr/>
            </a:pPr>
            <a:r>
              <a:rPr/>
              <a:t>xx%</a:t>
            </a:r>
          </a:p>
        </p:txBody>
      </p:sp>
      <p:sp>
        <p:nvSpPr>
          <p:cNvPr id="2058967520" name="Google Shape;46;p11"/>
          <p:cNvSpPr txBox="1">
            <a:spLocks noGrp="1"/>
          </p:cNvSpPr>
          <p:nvPr>
            <p:ph type="body" idx="1"/>
          </p:nvPr>
        </p:nvSpPr>
        <p:spPr bwMode="auto"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34191571" name="Google Shape;47;p11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747366" name="Google Shape;49;p12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69869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65260959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569954672" name="Google Shape;8;p1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698172" name="Google Shape;10;p2"/>
          <p:cNvSpPr txBox="1">
            <a:spLocks noGrp="1"/>
          </p:cNvSpPr>
          <p:nvPr>
            <p:ph type="ctrTitle"/>
          </p:nvPr>
        </p:nvSpPr>
        <p:spPr bwMode="auto">
          <a:xfrm>
            <a:off x="311707" y="1807824"/>
            <a:ext cx="8520599" cy="2052599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b" anchorCtr="0" forceAA="0" compatLnSpc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</a:rPr>
              <a:t>Benchmarking and Algorithmic Analysis of Open-Source Data Deduplication Systems</a:t>
            </a:r>
            <a:endParaRPr sz="3600"/>
          </a:p>
        </p:txBody>
      </p:sp>
      <p:sp>
        <p:nvSpPr>
          <p:cNvPr id="650386026" name="Google Shape;11;p2"/>
          <p:cNvSpPr txBox="1">
            <a:spLocks noGrp="1"/>
          </p:cNvSpPr>
          <p:nvPr>
            <p:ph type="subTitle" idx="1"/>
          </p:nvPr>
        </p:nvSpPr>
        <p:spPr bwMode="auto">
          <a:xfrm>
            <a:off x="311699" y="2834124"/>
            <a:ext cx="8520599" cy="792599"/>
          </a:xfrm>
          <a:prstGeom prst="rect">
            <a:avLst/>
          </a:prstGeom>
        </p:spPr>
        <p:txBody>
          <a:bodyPr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767398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The beginning</a:t>
            </a:r>
            <a:endParaRPr/>
          </a:p>
        </p:txBody>
      </p:sp>
      <p:sp>
        <p:nvSpPr>
          <p:cNvPr id="155219487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algn="ctr">
              <a:defRPr/>
            </a:pPr>
            <a:r>
              <a:rPr sz="1600"/>
              <a:t>How it started?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Why it went this way?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How it’s going?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When to stop?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84280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Database design(s)</a:t>
            </a:r>
          </a:p>
        </p:txBody>
      </p:sp>
      <p:sp>
        <p:nvSpPr>
          <p:cNvPr id="1983166034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DB 1 ~ 100 GB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30 GB iso files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50+ GB data/text/audio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20 GB image/video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NOTE: mostly non-synthetic data, synthetic was created using Faker</a:t>
            </a:r>
            <a:endParaRPr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36726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iostat</a:t>
            </a:r>
            <a:endParaRPr/>
          </a:p>
        </p:txBody>
      </p:sp>
      <p:sp>
        <p:nvSpPr>
          <p:cNvPr id="169738092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623829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t" anchorCtr="0" forceAA="0" compatLnSpc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COMMAND: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iostat -cdh sda 2 &gt; sample.txt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—————————————————————————————————————————————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OUTPUT: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avg-cpu:  %user   %nice %system %iowait  %steal   %idle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        	   3.3%    0.1%    8.5%    0.1%    0.0%   88.0%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 tps    kB_read/s    kB_wrtn/s    kB_dscd/s    kB_read    kB_wrtn    kB_dscd Device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1.94 	   118.8k         6.7k     	    0.0k    	 784.0M      44.4M     	  0.0k 	sda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181108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VDO</a:t>
            </a:r>
            <a:endParaRPr/>
          </a:p>
        </p:txBody>
      </p:sp>
      <p:sp>
        <p:nvSpPr>
          <p:cNvPr id="186734930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897212" cy="3748068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t" anchorCtr="0" forceAA="0" compatLnSpc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1. locate available disks with lsblk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2. zoom in on 'sda' disk with generalized sudo fdisk -l command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3. calculate storage and memory needs</a:t>
            </a: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storage space = VDO metadata + UDS dedup index --&gt; approx. 2.5 GB disk usage + 4-5 GB for dense index storage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RAM required: min. 250 + (370 + 1 * 268) MB = 888 MB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// ’*1’ is because we have 1 TB or less physical storage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1 GB RAM --&gt; 1 TB dedup window (for dense index)</a:t>
            </a:r>
            <a:endParaRPr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b="1">
                <a:solidFill>
                  <a:srgbClr val="0000FF"/>
                </a:solidFill>
              </a:rPr>
              <a:t>							issues?? yup...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/>
              <a:t>	</a:t>
            </a:r>
            <a:endParaRPr lang="en-US" sz="18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slov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Generating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databases</a:t>
            </a:r>
            <a:endParaRPr lang="sl-SI" dirty="0"/>
          </a:p>
        </p:txBody>
      </p:sp>
      <p:sp>
        <p:nvSpPr>
          <p:cNvPr id="4" name="Označba mesta besedila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 smtClean="0"/>
              <a:t>Generating</a:t>
            </a:r>
            <a:r>
              <a:rPr lang="sl-SI" dirty="0" smtClean="0"/>
              <a:t> </a:t>
            </a:r>
            <a:r>
              <a:rPr lang="sl-SI" dirty="0" err="1" smtClean="0"/>
              <a:t>images</a:t>
            </a:r>
            <a:r>
              <a:rPr lang="sl-SI" dirty="0" smtClean="0"/>
              <a:t> </a:t>
            </a:r>
            <a:r>
              <a:rPr lang="sl-SI" dirty="0" err="1" smtClean="0"/>
              <a:t>and</a:t>
            </a:r>
            <a:r>
              <a:rPr lang="sl-SI" dirty="0" smtClean="0"/>
              <a:t> </a:t>
            </a:r>
            <a:r>
              <a:rPr lang="sl-SI" dirty="0" err="1" smtClean="0"/>
              <a:t>audio</a:t>
            </a:r>
            <a:endParaRPr lang="sl-SI" dirty="0" smtClean="0"/>
          </a:p>
          <a:p>
            <a:r>
              <a:rPr lang="sl-SI" dirty="0" err="1"/>
              <a:t>G</a:t>
            </a:r>
            <a:r>
              <a:rPr lang="sl-SI" dirty="0" err="1" smtClean="0"/>
              <a:t>enerating</a:t>
            </a:r>
            <a:r>
              <a:rPr lang="sl-SI" dirty="0" smtClean="0"/>
              <a:t> data </a:t>
            </a:r>
            <a:r>
              <a:rPr lang="sl-SI" dirty="0" err="1" smtClean="0"/>
              <a:t>with</a:t>
            </a:r>
            <a:r>
              <a:rPr lang="sl-SI" dirty="0" smtClean="0"/>
              <a:t> </a:t>
            </a:r>
            <a:r>
              <a:rPr lang="sl-SI" dirty="0" err="1" smtClean="0"/>
              <a:t>Faker</a:t>
            </a:r>
            <a:r>
              <a:rPr lang="sl-SI" dirty="0" smtClean="0"/>
              <a:t> </a:t>
            </a:r>
            <a:r>
              <a:rPr lang="sl-SI" dirty="0" err="1" smtClean="0"/>
              <a:t>package</a:t>
            </a:r>
            <a:endParaRPr lang="sl-SI" dirty="0" smtClean="0"/>
          </a:p>
          <a:p>
            <a:r>
              <a:rPr lang="sl-SI" dirty="0"/>
              <a:t>2</a:t>
            </a:r>
            <a:r>
              <a:rPr lang="sl-SI" dirty="0" smtClean="0"/>
              <a:t> </a:t>
            </a:r>
            <a:r>
              <a:rPr lang="sl-SI" dirty="0" err="1" smtClean="0"/>
              <a:t>days</a:t>
            </a:r>
            <a:r>
              <a:rPr lang="sl-SI" dirty="0" smtClean="0"/>
              <a:t> </a:t>
            </a:r>
            <a:r>
              <a:rPr lang="sl-SI" dirty="0" err="1" smtClean="0"/>
              <a:t>with</a:t>
            </a:r>
            <a:r>
              <a:rPr lang="sl-SI" dirty="0" smtClean="0"/>
              <a:t> </a:t>
            </a:r>
            <a:r>
              <a:rPr lang="sl-SI" dirty="0" err="1"/>
              <a:t>F</a:t>
            </a:r>
            <a:r>
              <a:rPr lang="sl-SI" dirty="0" err="1" smtClean="0"/>
              <a:t>aker</a:t>
            </a:r>
            <a:r>
              <a:rPr lang="sl-SI" dirty="0" smtClean="0"/>
              <a:t> </a:t>
            </a:r>
            <a:r>
              <a:rPr lang="sl-SI" dirty="0" err="1" smtClean="0"/>
              <a:t>and</a:t>
            </a:r>
            <a:r>
              <a:rPr lang="sl-SI" dirty="0" smtClean="0"/>
              <a:t> </a:t>
            </a:r>
            <a:r>
              <a:rPr lang="sl-SI" dirty="0" err="1" smtClean="0"/>
              <a:t>pre-generated</a:t>
            </a:r>
            <a:r>
              <a:rPr lang="sl-SI" dirty="0" smtClean="0"/>
              <a:t> </a:t>
            </a:r>
            <a:r>
              <a:rPr lang="sl-SI" dirty="0" err="1" smtClean="0"/>
              <a:t>images</a:t>
            </a:r>
            <a:r>
              <a:rPr lang="sl-SI" dirty="0" smtClean="0"/>
              <a:t> </a:t>
            </a:r>
            <a:r>
              <a:rPr lang="sl-SI" dirty="0" err="1" smtClean="0"/>
              <a:t>for</a:t>
            </a:r>
            <a:r>
              <a:rPr lang="sl-SI" dirty="0" smtClean="0"/>
              <a:t> 100 GB</a:t>
            </a:r>
          </a:p>
        </p:txBody>
      </p:sp>
    </p:spTree>
    <p:extLst>
      <p:ext uri="{BB962C8B-B14F-4D97-AF65-F5344CB8AC3E}">
        <p14:creationId xmlns:p14="http://schemas.microsoft.com/office/powerpoint/2010/main" val="1411212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Solving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 RAM </a:t>
            </a:r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issues</a:t>
            </a:r>
            <a:endParaRPr lang="sl-SI" dirty="0"/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def</a:t>
            </a:r>
            <a:r>
              <a:rPr lang="sl-SI" dirty="0"/>
              <a:t> </a:t>
            </a:r>
            <a:r>
              <a:rPr lang="sl-SI" dirty="0" err="1"/>
              <a:t>measure_full_scan_throughput</a:t>
            </a:r>
            <a:r>
              <a:rPr lang="sl-SI" dirty="0"/>
              <a:t>(</a:t>
            </a:r>
            <a:r>
              <a:rPr lang="sl-SI" dirty="0" err="1"/>
              <a:t>dataset</a:t>
            </a:r>
            <a:r>
              <a:rPr lang="sl-SI" dirty="0"/>
              <a:t>, </a:t>
            </a:r>
            <a:r>
              <a:rPr lang="sl-SI" dirty="0" err="1"/>
              <a:t>total_mb</a:t>
            </a:r>
            <a:r>
              <a:rPr lang="sl-SI" dirty="0"/>
              <a:t>):</a:t>
            </a:r>
          </a:p>
          <a:p>
            <a:r>
              <a:rPr lang="sl-SI" dirty="0"/>
              <a:t>    </a:t>
            </a:r>
            <a:r>
              <a:rPr lang="sl-SI" dirty="0" err="1"/>
              <a:t>scanner</a:t>
            </a:r>
            <a:r>
              <a:rPr lang="sl-SI" dirty="0"/>
              <a:t> = </a:t>
            </a:r>
            <a:r>
              <a:rPr lang="sl-SI" dirty="0" err="1"/>
              <a:t>dataset.scanner</a:t>
            </a:r>
            <a:r>
              <a:rPr lang="sl-SI" dirty="0" smtClean="0"/>
              <a:t>()</a:t>
            </a:r>
          </a:p>
          <a:p>
            <a:r>
              <a:rPr lang="sl-SI" dirty="0" smtClean="0"/>
              <a:t>    start = </a:t>
            </a:r>
            <a:r>
              <a:rPr lang="sl-SI" dirty="0" err="1" smtClean="0"/>
              <a:t>time.time</a:t>
            </a:r>
            <a:r>
              <a:rPr lang="sl-SI" dirty="0" smtClean="0"/>
              <a:t>()</a:t>
            </a:r>
          </a:p>
          <a:p>
            <a:endParaRPr lang="sl-SI" dirty="0"/>
          </a:p>
          <a:p>
            <a:r>
              <a:rPr lang="sl-SI" dirty="0"/>
              <a:t>    </a:t>
            </a:r>
            <a:r>
              <a:rPr lang="sl-SI" dirty="0" err="1"/>
              <a:t>for</a:t>
            </a:r>
            <a:r>
              <a:rPr lang="sl-SI" dirty="0"/>
              <a:t> </a:t>
            </a:r>
            <a:r>
              <a:rPr lang="sl-SI" dirty="0" err="1"/>
              <a:t>batch</a:t>
            </a:r>
            <a:r>
              <a:rPr lang="sl-SI" dirty="0"/>
              <a:t> in </a:t>
            </a:r>
            <a:r>
              <a:rPr lang="sl-SI" dirty="0" err="1"/>
              <a:t>scanner.to_batches</a:t>
            </a:r>
            <a:r>
              <a:rPr lang="sl-SI" dirty="0"/>
              <a:t>():</a:t>
            </a:r>
          </a:p>
          <a:p>
            <a:r>
              <a:rPr lang="sl-SI" dirty="0"/>
              <a:t>        </a:t>
            </a:r>
            <a:r>
              <a:rPr lang="sl-SI" dirty="0" err="1" smtClean="0"/>
              <a:t>pass</a:t>
            </a:r>
            <a:endParaRPr lang="sl-SI" dirty="0"/>
          </a:p>
          <a:p>
            <a:r>
              <a:rPr lang="sl-SI" dirty="0"/>
              <a:t>    </a:t>
            </a:r>
            <a:r>
              <a:rPr lang="sl-SI" dirty="0" err="1"/>
              <a:t>elapsed</a:t>
            </a:r>
            <a:r>
              <a:rPr lang="sl-SI" dirty="0"/>
              <a:t> = </a:t>
            </a:r>
            <a:r>
              <a:rPr lang="sl-SI" dirty="0" err="1"/>
              <a:t>time.time</a:t>
            </a:r>
            <a:r>
              <a:rPr lang="sl-SI" dirty="0"/>
              <a:t>() - start</a:t>
            </a:r>
          </a:p>
          <a:p>
            <a:r>
              <a:rPr lang="sl-SI" dirty="0"/>
              <a:t>    </a:t>
            </a:r>
            <a:r>
              <a:rPr lang="sl-SI" dirty="0" err="1"/>
              <a:t>return</a:t>
            </a:r>
            <a:r>
              <a:rPr lang="sl-SI" dirty="0"/>
              <a:t> </a:t>
            </a:r>
            <a:r>
              <a:rPr lang="sl-SI" dirty="0" err="1"/>
              <a:t>total_mb</a:t>
            </a:r>
            <a:r>
              <a:rPr lang="sl-SI" dirty="0"/>
              <a:t> / </a:t>
            </a:r>
            <a:r>
              <a:rPr lang="sl-SI" dirty="0" err="1"/>
              <a:t>elapsed</a:t>
            </a:r>
            <a:r>
              <a:rPr lang="sl-SI" dirty="0"/>
              <a:t> </a:t>
            </a:r>
            <a:r>
              <a:rPr lang="sl-SI" dirty="0" err="1"/>
              <a:t>if</a:t>
            </a:r>
            <a:r>
              <a:rPr lang="sl-SI" dirty="0"/>
              <a:t> </a:t>
            </a:r>
            <a:r>
              <a:rPr lang="sl-SI" dirty="0" err="1"/>
              <a:t>elapsed</a:t>
            </a:r>
            <a:r>
              <a:rPr lang="sl-SI" dirty="0"/>
              <a:t> &gt; 0 </a:t>
            </a:r>
            <a:r>
              <a:rPr lang="sl-SI" dirty="0" err="1"/>
              <a:t>else</a:t>
            </a:r>
            <a:r>
              <a:rPr lang="sl-SI" dirty="0"/>
              <a:t> 0</a:t>
            </a:r>
          </a:p>
        </p:txBody>
      </p:sp>
    </p:spTree>
    <p:extLst>
      <p:ext uri="{BB962C8B-B14F-4D97-AF65-F5344CB8AC3E}">
        <p14:creationId xmlns:p14="http://schemas.microsoft.com/office/powerpoint/2010/main" val="1144621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Benchmarking</a:t>
            </a:r>
            <a:r>
              <a:rPr lang="sl-SI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of</a:t>
            </a:r>
            <a:r>
              <a:rPr lang="sl-SI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1.3MB </a:t>
            </a:r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Database</a:t>
            </a:r>
            <a:endParaRPr lang="sl-SI" dirty="0"/>
          </a:p>
        </p:txBody>
      </p:sp>
      <p:pic>
        <p:nvPicPr>
          <p:cNvPr id="3" name="Slika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" y="981489"/>
            <a:ext cx="6936685" cy="416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271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Benchmarking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of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50GB </a:t>
            </a:r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Database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dirty="0" smtClean="0"/>
              <a:t/>
            </a:r>
            <a:br>
              <a:rPr lang="sl-SI" dirty="0" smtClean="0"/>
            </a:br>
            <a:endParaRPr lang="sl-SI" dirty="0"/>
          </a:p>
        </p:txBody>
      </p:sp>
      <p:pic>
        <p:nvPicPr>
          <p:cNvPr id="4" name="Slika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0318"/>
            <a:ext cx="7360478" cy="441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371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značba mesta besedila 2"/>
          <p:cNvSpPr>
            <a:spLocks noGrp="1"/>
          </p:cNvSpPr>
          <p:nvPr>
            <p:ph type="body" idx="4294967295"/>
          </p:nvPr>
        </p:nvSpPr>
        <p:spPr>
          <a:xfrm>
            <a:off x="0" y="1152525"/>
            <a:ext cx="8521700" cy="3416300"/>
          </a:xfrm>
        </p:spPr>
        <p:txBody>
          <a:bodyPr/>
          <a:lstStyle/>
          <a:p>
            <a:r>
              <a:rPr lang="sl-SI" dirty="0" err="1"/>
              <a:t>Metric,Value</a:t>
            </a:r>
            <a:endParaRPr lang="sl-SI" dirty="0"/>
          </a:p>
          <a:p>
            <a:r>
              <a:rPr lang="sl-SI" dirty="0" err="1"/>
              <a:t>Dedup</a:t>
            </a:r>
            <a:r>
              <a:rPr lang="sl-SI" dirty="0"/>
              <a:t> Ratio,1.5886047552009983</a:t>
            </a:r>
          </a:p>
          <a:p>
            <a:r>
              <a:rPr lang="sl-SI" dirty="0" err="1"/>
              <a:t>Metadata</a:t>
            </a:r>
            <a:r>
              <a:rPr lang="sl-SI" dirty="0"/>
              <a:t> Overhead,9.251842051009498e-05</a:t>
            </a:r>
          </a:p>
          <a:p>
            <a:r>
              <a:rPr lang="sl-SI" dirty="0"/>
              <a:t>I/O </a:t>
            </a:r>
            <a:r>
              <a:rPr lang="sl-SI" dirty="0" err="1"/>
              <a:t>Throughput</a:t>
            </a:r>
            <a:r>
              <a:rPr lang="sl-SI" dirty="0"/>
              <a:t> (MB/s),242.2879983563504</a:t>
            </a:r>
          </a:p>
          <a:p>
            <a:r>
              <a:rPr lang="sl-SI" dirty="0" err="1"/>
              <a:t>Column</a:t>
            </a:r>
            <a:r>
              <a:rPr lang="sl-SI" dirty="0"/>
              <a:t> Scan </a:t>
            </a:r>
            <a:r>
              <a:rPr lang="sl-SI" dirty="0" err="1"/>
              <a:t>Latency</a:t>
            </a:r>
            <a:r>
              <a:rPr lang="sl-SI" dirty="0"/>
              <a:t> (s),68.78568863868713</a:t>
            </a:r>
          </a:p>
          <a:p>
            <a:r>
              <a:rPr lang="sl-SI" dirty="0" err="1"/>
              <a:t>Row-Group</a:t>
            </a:r>
            <a:r>
              <a:rPr lang="sl-SI" dirty="0"/>
              <a:t> Avg </a:t>
            </a:r>
            <a:r>
              <a:rPr lang="sl-SI" dirty="0" err="1"/>
              <a:t>Latency</a:t>
            </a:r>
            <a:r>
              <a:rPr lang="sl-SI" dirty="0"/>
              <a:t> (s),0.040458078480851936</a:t>
            </a:r>
          </a:p>
          <a:p>
            <a:r>
              <a:rPr lang="sl-SI" dirty="0" err="1"/>
              <a:t>DuckDB</a:t>
            </a:r>
            <a:r>
              <a:rPr lang="sl-SI" dirty="0"/>
              <a:t> </a:t>
            </a:r>
            <a:r>
              <a:rPr lang="sl-SI" dirty="0" err="1"/>
              <a:t>Parallel</a:t>
            </a:r>
            <a:r>
              <a:rPr lang="sl-SI" dirty="0"/>
              <a:t> Scan (s),1.914980411529541</a:t>
            </a:r>
          </a:p>
          <a:p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1949586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1800" b="1" dirty="0" err="1" smtClean="0">
                <a:solidFill>
                  <a:schemeClr val="accent1">
                    <a:lumMod val="75000"/>
                  </a:schemeClr>
                </a:solidFill>
              </a:rPr>
              <a:t>Comparison</a:t>
            </a:r>
            <a:endParaRPr lang="sl-SI" sz="18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 smtClean="0"/>
              <a:t>Column</a:t>
            </a:r>
            <a:r>
              <a:rPr lang="sl-SI" dirty="0" smtClean="0"/>
              <a:t> scan </a:t>
            </a:r>
            <a:r>
              <a:rPr lang="sl-SI" dirty="0" err="1" smtClean="0"/>
              <a:t>latency</a:t>
            </a:r>
            <a:endParaRPr lang="sl-SI" dirty="0" smtClean="0"/>
          </a:p>
          <a:p>
            <a:r>
              <a:rPr lang="sl-SI" dirty="0" err="1" smtClean="0"/>
              <a:t>Parallel</a:t>
            </a:r>
            <a:r>
              <a:rPr lang="sl-SI" dirty="0" smtClean="0"/>
              <a:t> </a:t>
            </a:r>
            <a:r>
              <a:rPr lang="sl-SI" dirty="0" err="1" smtClean="0"/>
              <a:t>throughput</a:t>
            </a:r>
            <a:r>
              <a:rPr lang="sl-SI" dirty="0" smtClean="0"/>
              <a:t> (</a:t>
            </a:r>
            <a:r>
              <a:rPr lang="sl-SI" dirty="0" err="1" smtClean="0"/>
              <a:t>DuckDB</a:t>
            </a:r>
            <a:r>
              <a:rPr lang="sl-SI" dirty="0" smtClean="0"/>
              <a:t> </a:t>
            </a:r>
            <a:r>
              <a:rPr lang="sl-SI" dirty="0" err="1" smtClean="0"/>
              <a:t>Parallel</a:t>
            </a:r>
            <a:r>
              <a:rPr lang="sl-SI" dirty="0" smtClean="0"/>
              <a:t> Scan)</a:t>
            </a:r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1576429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263050" name="Google Shape;54;p13"/>
          <p:cNvSpPr txBox="1"/>
          <p:nvPr/>
        </p:nvSpPr>
        <p:spPr bwMode="auto">
          <a:xfrm>
            <a:off x="96599" y="51099"/>
            <a:ext cx="4475759" cy="45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 dirty="0">
                <a:solidFill>
                  <a:srgbClr val="0000FF"/>
                </a:solidFill>
              </a:rPr>
              <a:t>Comparative Algorithmic Matrix</a:t>
            </a:r>
            <a:endParaRPr sz="1800" b="1" dirty="0">
              <a:solidFill>
                <a:srgbClr val="0000FF"/>
              </a:solidFill>
            </a:endParaRPr>
          </a:p>
        </p:txBody>
      </p:sp>
      <p:graphicFrame>
        <p:nvGraphicFramePr>
          <p:cNvPr id="2050086252" name="Google Shape;55;p13"/>
          <p:cNvGraphicFramePr>
            <a:graphicFrameLocks/>
          </p:cNvGraphicFramePr>
          <p:nvPr/>
        </p:nvGraphicFramePr>
        <p:xfrm>
          <a:off x="952500" y="666750"/>
          <a:ext cx="7239000" cy="4373670"/>
        </p:xfrm>
        <a:graphic>
          <a:graphicData uri="http://schemas.openxmlformats.org/drawingml/2006/table">
            <a:tbl>
              <a:tblPr>
                <a:tableStyleId>{65D93888-E404-49B0-9307-86BD6E8A61ED}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Feature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Restic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BorgBackup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Kopia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VDO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OpenZFS</a:t>
                      </a:r>
                      <a:endParaRPr sz="11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Chunking method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Content-defined chunking (AE, UltraCDC, TTC)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Content-defined (Rabin, FastCDC, AE)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Variable-size CDC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Fixed blocks + BSW / TTTD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Fixed block-level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Hashing function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SHA3-512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Cryptographic fingerprinting (e.g., SHA variants)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SHA-256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MD5 / SHA-1 / SHA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Cryptographic checksums (e.g., SHA-256)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Index type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Partitioned hash index + EHID/HID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Local hash index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Partitioned indexes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Central index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DDT (Deduplication Table)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Index location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disk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Disk with RAM cache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disk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SSD/HDD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Primarily RAM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Snapshot design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Object-based immutable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Archive-based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Versioned metadata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Not native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Native ZFS snapshots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Compression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Optional,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Optional,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Automatic,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Inline compression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Inline compression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Encryption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RSA + SHA3-512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AES / convergent cipher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AEAD encryption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AES-256 + convergent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ZFS native encryption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Dedup granularity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Block-level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Block-level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Metadata model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Content-indexed objects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Repository + segment metadata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Container-based metadata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Index servers + Merkle trees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DDT + transaction groups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cxnSp>
        <p:nvCxnSpPr>
          <p:cNvPr id="533148818" name="Google Shape;56;p13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570829" name="Google Shape;61;p14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 User-space vs Kernel-space Deduplication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User-space (Restic, Borg, Kopia): higher flexibility and portability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Kernel-space (VDO, OpenZFS): transparent operation, higher system impact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Block-level vs File-level Deduplication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Block-level (VDO, OpenZFS): operates below the filesystem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File-level / chunk-level (Restic, Borg, Kopia): optimized for backups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Metadata Scalability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OpenZFS: large metadata structures require significant RAM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User-space tools: partitioned indexes improve scalability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946748044" name="Google Shape;62;p14"/>
          <p:cNvSpPr txBox="1"/>
          <p:nvPr/>
        </p:nvSpPr>
        <p:spPr bwMode="auto">
          <a:xfrm>
            <a:off x="96599" y="51100"/>
            <a:ext cx="4475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 dirty="0">
                <a:solidFill>
                  <a:srgbClr val="0000FF"/>
                </a:solidFill>
              </a:rPr>
              <a:t>Key Architectural Differences</a:t>
            </a:r>
            <a:endParaRPr sz="1800" b="1" dirty="0">
              <a:solidFill>
                <a:srgbClr val="0000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dirty="0">
              <a:solidFill>
                <a:srgbClr val="0000FF"/>
              </a:solidFill>
            </a:endParaRPr>
          </a:p>
        </p:txBody>
      </p:sp>
      <p:cxnSp>
        <p:nvCxnSpPr>
          <p:cNvPr id="425819471" name="Google Shape;63;p14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67217" name="Google Shape;68;p15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Index Memory Footprint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OpenZFS: DDT must fit in memory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Other tools: memory reduction via indexing optimizations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Encryption Placement in Pipeline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➔"/>
              <a:defRPr/>
            </a:pPr>
            <a:r>
              <a:rPr lang="sr" sz="1100">
                <a:solidFill>
                  <a:schemeClr val="dk1"/>
                </a:solidFill>
              </a:rPr>
              <a:t>Correct order: Deduplication → Compression → Encryption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➔"/>
              <a:defRPr/>
            </a:pPr>
            <a:r>
              <a:rPr lang="sr" sz="1100">
                <a:solidFill>
                  <a:schemeClr val="dk1"/>
                </a:solidFill>
              </a:rPr>
              <a:t>Encrypting before deduplication breaks duplicate detection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104817706" name="Google Shape;69;p15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Key Architectural Differences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904418976" name="Google Shape;70;p15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99350" name="Google Shape;75;p16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Deduplication Ratio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CDC algorithms provide higher deduplication efficiency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Fixed-size blocks detect fewer duplicates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CPU Load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Kernel-level deduplication increases CPU overhead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User-space tools allow better resource control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1050855073" name="Google Shape;76;p16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Implications for Performance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1084739010" name="Google Shape;77;p16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089224" name="Google Shape;82;p17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memory usage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ZFS requires large RAM for the DDT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Other systems reduce memory footprint using caching and partitioning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storage efficiency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Deduplication + compression maximize space savings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Incorrect operation order reduces efficiency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967347564" name="Google Shape;83;p17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Implications for Performance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1261197278" name="Google Shape;84;p17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126133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Resources</a:t>
            </a:r>
          </a:p>
        </p:txBody>
      </p:sp>
      <p:sp>
        <p:nvSpPr>
          <p:cNvPr id="139403209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https://github.com/joke2k/faker</a:t>
            </a:r>
            <a:endParaRPr sz="1100"/>
          </a:p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https://docs.redhat.com/en/documentation/red_hat_enterprise_linux/8/html/deduplicating_and_compressing_storage/deploying-vdo_deduplicating-and-compressing-storage</a:t>
            </a:r>
            <a:endParaRPr sz="1100"/>
          </a:p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https://tecadmin.net/iostat-command-in-linux/</a:t>
            </a:r>
            <a:endParaRPr sz="11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565</Words>
  <Application>Microsoft Office PowerPoint</Application>
  <PresentationFormat>Diaprojekcija na zaslonu (16:9)</PresentationFormat>
  <Paragraphs>176</Paragraphs>
  <Slides>17</Slides>
  <Notes>11</Notes>
  <HiddenSlides>0</HiddenSlides>
  <MMClips>0</MMClips>
  <ScaleCrop>false</ScaleCrop>
  <HeadingPairs>
    <vt:vector size="6" baseType="variant">
      <vt:variant>
        <vt:lpstr>Uporabljene pisave</vt:lpstr>
      </vt:variant>
      <vt:variant>
        <vt:i4>1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17</vt:i4>
      </vt:variant>
    </vt:vector>
  </HeadingPairs>
  <TitlesOfParts>
    <vt:vector size="19" baseType="lpstr">
      <vt:lpstr>Arial</vt:lpstr>
      <vt:lpstr>Simple Light</vt:lpstr>
      <vt:lpstr>Benchmarking and Algorithmic Analysis of Open-Source Data Deduplication Systems</vt:lpstr>
      <vt:lpstr>The beginning</vt:lpstr>
      <vt:lpstr>Database design(s)</vt:lpstr>
      <vt:lpstr>iostat</vt:lpstr>
      <vt:lpstr>VDO</vt:lpstr>
      <vt:lpstr>Generating databases</vt:lpstr>
      <vt:lpstr>Solving RAM issues</vt:lpstr>
      <vt:lpstr>Benchmarking of 1.3MB Database</vt:lpstr>
      <vt:lpstr>Benchmarking of 50GB Database  </vt:lpstr>
      <vt:lpstr>PowerPointova predstavitev</vt:lpstr>
      <vt:lpstr>Comparison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Benchmarking and Algorithmic Analysis of Open-Source Data Deduplication Systems</dc:title>
  <cp:lastModifiedBy>Uporabnik</cp:lastModifiedBy>
  <cp:revision>8</cp:revision>
  <dcterms:modified xsi:type="dcterms:W3CDTF">2025-12-04T14:42:37Z</dcterms:modified>
</cp:coreProperties>
</file>